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F889F-9D0E-5EE0-4A90-5C2F9E9BFEBB}" v="2" dt="2026-05-26T23:21:22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bdulca" userId="S::aabdulca@gravityunion.com::0e1390f6-f33a-4cad-840a-c4426e0a4273" providerId="AD" clId="Web-{A87F889F-9D0E-5EE0-4A90-5C2F9E9BFEBB}"/>
    <pc:docChg chg="modSld">
      <pc:chgData name="Alex Abdulca" userId="S::aabdulca@gravityunion.com::0e1390f6-f33a-4cad-840a-c4426e0a4273" providerId="AD" clId="Web-{A87F889F-9D0E-5EE0-4A90-5C2F9E9BFEBB}" dt="2026-05-26T23:21:22.538" v="1" actId="20577"/>
      <pc:docMkLst>
        <pc:docMk/>
      </pc:docMkLst>
      <pc:sldChg chg="modSp">
        <pc:chgData name="Alex Abdulca" userId="S::aabdulca@gravityunion.com::0e1390f6-f33a-4cad-840a-c4426e0a4273" providerId="AD" clId="Web-{A87F889F-9D0E-5EE0-4A90-5C2F9E9BFEBB}" dt="2026-05-26T23:21:22.538" v="1" actId="20577"/>
        <pc:sldMkLst>
          <pc:docMk/>
          <pc:sldMk cId="0" sldId="256"/>
        </pc:sldMkLst>
        <pc:spChg chg="mod">
          <ac:chgData name="Alex Abdulca" userId="S::aabdulca@gravityunion.com::0e1390f6-f33a-4cad-840a-c4426e0a4273" providerId="AD" clId="Web-{A87F889F-9D0E-5EE0-4A90-5C2F9E9BFEBB}" dt="2026-05-26T23:21:22.538" v="1" actId="20577"/>
          <ac:spMkLst>
            <pc:docMk/>
            <pc:sldMk cId="0" sldId="256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384D8-B35E-4BBB-A593-1ADEFA3CF12C}" type="datetimeFigureOut"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5ECD5-0CFC-4179-87B2-2C6481979E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73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0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A31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73152" cy="685800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914400"/>
            <a:ext cx="2011680" cy="2011680"/>
          </a:xfrm>
          <a:prstGeom prst="ellipse">
            <a:avLst/>
          </a:prstGeom>
          <a:solidFill>
            <a:srgbClr val="E3A82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1828800"/>
            <a:ext cx="1828800" cy="1828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9875520" y="4389120"/>
            <a:ext cx="1371600" cy="1371600"/>
          </a:xfrm>
          <a:prstGeom prst="rect">
            <a:avLst/>
          </a:prstGeom>
          <a:solidFill>
            <a:srgbClr val="E3A82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2026 PANEL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45720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Certifications in 2026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F4C5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Actually Matters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9144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ALEXANDR</a:t>
            </a:r>
            <a:r>
              <a:rPr lang="en-US" sz="1800" b="1" kern="0" spc="400" dirty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 ABDULCA</a:t>
            </a:r>
            <a:endParaRPr lang="en-US" sz="1800" dirty="0">
              <a:latin typeface="Segoe UI"/>
              <a:cs typeface="Segoe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Microsoft 365 &amp; Power Platform Developer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828800" y="5440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8C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earned in 3 years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listen to me?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practitioner's view — earned by building, not just by passing.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384048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3611880" cy="73152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346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91440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5029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M365, Azure, AI, Power Platform, Security, and Data.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2331720"/>
            <a:ext cx="3611880" cy="384048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2331720"/>
            <a:ext cx="3611880" cy="73152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3464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480060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BUILDER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00600" y="5029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solutions across the Microsoft stack — not just exam theory.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321040" y="2331720"/>
            <a:ext cx="3611880" cy="384048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2331720"/>
            <a:ext cx="3611880" cy="73152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83464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868680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PERSPECTIVE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686800" y="5029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certs actually do for your career — and what they don't.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17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journey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Consistency beats intensity. Layers, not sprints.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3703320"/>
            <a:ext cx="9994392" cy="0"/>
          </a:xfrm>
          <a:prstGeom prst="line">
            <a:avLst/>
          </a:prstGeom>
          <a:noFill/>
          <a:ln w="25400">
            <a:solidFill>
              <a:srgbClr val="D8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703320"/>
            <a:ext cx="9994392" cy="0"/>
          </a:xfrm>
          <a:prstGeom prst="line">
            <a:avLst/>
          </a:prstGeom>
          <a:noFill/>
          <a:ln w="31750">
            <a:solidFill>
              <a:srgbClr val="E3A8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2194560" cy="36576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697480"/>
            <a:ext cx="0" cy="914400"/>
          </a:xfrm>
          <a:prstGeom prst="line">
            <a:avLst/>
          </a:prstGeom>
          <a:noFill/>
          <a:ln w="12700">
            <a:solidFill>
              <a:srgbClr val="D8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19072" y="350215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3A8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37944" y="3621024"/>
            <a:ext cx="164592" cy="16459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Fundamentals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MS-900, AZ-900,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PL-900, AI-900.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the base layer.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85032" y="2331720"/>
            <a:ext cx="2194560" cy="36576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82312" y="2697480"/>
            <a:ext cx="0" cy="914400"/>
          </a:xfrm>
          <a:prstGeom prst="line">
            <a:avLst/>
          </a:prstGeom>
          <a:noFill/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81144" y="350215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3A8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0016" y="3621024"/>
            <a:ext cx="164592" cy="16459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Role-based depth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93592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dev, Power Platform,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Security, M365 admin.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47104" y="2331720"/>
            <a:ext cx="2194560" cy="36576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44384" y="2697480"/>
            <a:ext cx="0" cy="914400"/>
          </a:xfrm>
          <a:prstGeom prst="line">
            <a:avLst/>
          </a:prstGeom>
          <a:noFill/>
          <a:ln w="12700">
            <a:solidFill>
              <a:srgbClr val="D8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3216" y="350215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3A8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3621024"/>
            <a:ext cx="164592" cy="16459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Specialization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55664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Maker → Developer 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409176" y="2331720"/>
            <a:ext cx="2194560" cy="36576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9176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06456" y="2697480"/>
            <a:ext cx="0" cy="914400"/>
          </a:xfrm>
          <a:prstGeom prst="line">
            <a:avLst/>
          </a:prstGeom>
          <a:noFill/>
          <a:ln w="12700">
            <a:solidFill>
              <a:srgbClr val="D8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05288" y="350215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3A8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24160" y="3621024"/>
            <a:ext cx="164592" cy="16459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4856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 certifications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317736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learning practice.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AI architecture.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 APPROACHED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certification strategy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didn't collect badges. I stacked layers that compound.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03520" cy="50292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860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Copilot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workload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2834640"/>
            <a:ext cx="5084064" cy="50292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9848" y="2834640"/>
            <a:ext cx="27962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2834640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Cross-cutting trust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" y="3383280"/>
            <a:ext cx="4864608" cy="502920"/>
          </a:xfrm>
          <a:prstGeom prst="rect">
            <a:avLst/>
          </a:prstGeom>
          <a:solidFill>
            <a:srgbClr val="3A5995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9576" y="3383280"/>
            <a:ext cx="2675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9576" y="3383280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Low-code delivery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0704" y="3931920"/>
            <a:ext cx="4645152" cy="502920"/>
          </a:xfrm>
          <a:prstGeom prst="rect">
            <a:avLst/>
          </a:prstGeom>
          <a:solidFill>
            <a:srgbClr val="5B7AB0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9304" y="3931920"/>
            <a:ext cx="2554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9304" y="393192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Productivity surface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70432" y="4480560"/>
            <a:ext cx="4425696" cy="502920"/>
          </a:xfrm>
          <a:prstGeom prst="rect">
            <a:avLst/>
          </a:prstGeom>
          <a:solidFill>
            <a:srgbClr val="8AA1C9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99032" y="4480560"/>
            <a:ext cx="24341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99032" y="4480560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foundation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80160" y="5029200"/>
            <a:ext cx="4206240" cy="502920"/>
          </a:xfrm>
          <a:prstGeom prst="rect">
            <a:avLst/>
          </a:prstGeom>
          <a:solidFill>
            <a:srgbClr val="EEF0F4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08760" y="502920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5029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MS-900 / AZ-900 / PL-900</a:t>
            </a:r>
            <a:endParaRPr lang="en-US" sz="11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2608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1264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2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grows up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40880" y="22402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726680" y="2240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Layer, don't scatter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26680" y="2606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cert builds on the last. Azure unlocks Power Platform unlocks AI.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40880" y="32918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7726680" y="3291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 over speed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726680" y="36576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next cert that compounds with what you already do at work.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040880" y="43434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7726680" y="4343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in between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726680" y="47091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the skill before moving on. Otherwise it doesn't stick.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40880" y="53949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800" dirty="0"/>
          </a:p>
        </p:txBody>
      </p:sp>
      <p:sp>
        <p:nvSpPr>
          <p:cNvPr id="35" name="Text 32"/>
          <p:cNvSpPr/>
          <p:nvPr/>
        </p:nvSpPr>
        <p:spPr>
          <a:xfrm>
            <a:off x="7726680" y="5394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 edges, cool core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726680" y="57607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the foundation, then chase the new things (AI, Copilot, agents).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17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certification portfolio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Grouped by discipline — built to reinforce each other.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0" cy="384048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5029200" cy="109728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2606040"/>
            <a:ext cx="1188720" cy="32004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STRONGEST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566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Platform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14400" y="4069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certifications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66344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1A3160"/>
          </a:solidFill>
          <a:ln w="9525">
            <a:solidFill>
              <a:srgbClr val="3A599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663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PL-900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423160" y="466344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1A3160"/>
          </a:solidFill>
          <a:ln w="9525">
            <a:solidFill>
              <a:srgbClr val="3A599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23160" y="4663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PL-100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31920" y="466344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1A3160"/>
          </a:solidFill>
          <a:ln w="9525">
            <a:solidFill>
              <a:srgbClr val="3A59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0" y="4663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PL-200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4400" y="530352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1A3160"/>
          </a:solidFill>
          <a:ln w="9525">
            <a:solidFill>
              <a:srgbClr val="3A599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5303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PL-300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423160" y="530352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E3A82B"/>
          </a:solidFill>
          <a:ln w="9525">
            <a:solidFill>
              <a:srgbClr val="E3A8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23160" y="5303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PL-400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931920" y="4343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ANCHOR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52160" y="2286000"/>
            <a:ext cx="3063240" cy="1627632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52160" y="2286000"/>
            <a:ext cx="73152" cy="1627632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56032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183880" y="2423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612648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126480" y="3429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MS-700 · MS-102 · MS-900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9052560" y="2286000"/>
            <a:ext cx="3063240" cy="1627632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052560" y="2286000"/>
            <a:ext cx="73152" cy="1627632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560320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1384280" y="2423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800" dirty="0"/>
          </a:p>
        </p:txBody>
      </p:sp>
      <p:sp>
        <p:nvSpPr>
          <p:cNvPr id="33" name="Text 28"/>
          <p:cNvSpPr/>
          <p:nvPr/>
        </p:nvSpPr>
        <p:spPr>
          <a:xfrm>
            <a:off x="932688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9326880" y="3429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AZ-900 · AZ-204 · AZ-500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852160" y="4050792"/>
            <a:ext cx="3063240" cy="1627632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852160" y="4050792"/>
            <a:ext cx="73152" cy="1627632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325112"/>
            <a:ext cx="411480" cy="4114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183880" y="41879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800" dirty="0"/>
          </a:p>
        </p:txBody>
      </p:sp>
      <p:sp>
        <p:nvSpPr>
          <p:cNvPr id="39" name="Text 33"/>
          <p:cNvSpPr/>
          <p:nvPr/>
        </p:nvSpPr>
        <p:spPr>
          <a:xfrm>
            <a:off x="6126480" y="48280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6126480" y="5193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SC-200 · SC-300 · SC-400 · SC-401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9052560" y="4050792"/>
            <a:ext cx="3063240" cy="1627632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9052560" y="4050792"/>
            <a:ext cx="73152" cy="1627632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4325112"/>
            <a:ext cx="411480" cy="41148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1384280" y="41879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45" name="Text 38"/>
          <p:cNvSpPr/>
          <p:nvPr/>
        </p:nvSpPr>
        <p:spPr>
          <a:xfrm>
            <a:off x="9326880" y="48280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endParaRPr lang="en-US" sz="1600" dirty="0"/>
          </a:p>
        </p:txBody>
      </p:sp>
      <p:sp>
        <p:nvSpPr>
          <p:cNvPr id="46" name="Text 39"/>
          <p:cNvSpPr/>
          <p:nvPr/>
        </p:nvSpPr>
        <p:spPr>
          <a:xfrm>
            <a:off x="9326880" y="5193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AI-900 · AI-102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5852160" y="5815584"/>
            <a:ext cx="6263640" cy="585216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5852160" y="5815584"/>
            <a:ext cx="73152" cy="585216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916168"/>
            <a:ext cx="384048" cy="38404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720840" y="5815584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Dynamics</a:t>
            </a:r>
            <a:endParaRPr lang="en-US" sz="1500" dirty="0"/>
          </a:p>
        </p:txBody>
      </p:sp>
      <p:sp>
        <p:nvSpPr>
          <p:cNvPr id="51" name="Text 43"/>
          <p:cNvSpPr/>
          <p:nvPr/>
        </p:nvSpPr>
        <p:spPr>
          <a:xfrm>
            <a:off x="9144000" y="5815584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44"/>
          <p:cNvSpPr/>
          <p:nvPr/>
        </p:nvSpPr>
        <p:spPr>
          <a:xfrm>
            <a:off x="9692640" y="581558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DP-900 · MB-910 · MB-920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17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a certification?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Useful — but only if you know what it is and what it isn't.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234075">
                    <a:alpha val="20000"/>
                  </a:srgb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DEE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48640" cy="54864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7764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709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Verified proof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" y="53492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Microsoft-backed validation that you've covered a structured body of knowledge.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234075">
                    <a:alpha val="20000"/>
                  </a:srgb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443484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DEE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6400" dirty="0"/>
          </a:p>
        </p:txBody>
      </p:sp>
      <p:sp>
        <p:nvSpPr>
          <p:cNvPr id="13" name="Shape 10"/>
          <p:cNvSpPr/>
          <p:nvPr/>
        </p:nvSpPr>
        <p:spPr>
          <a:xfrm>
            <a:off x="4434840" y="3703320"/>
            <a:ext cx="548640" cy="54864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97764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4840" y="4709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Career signal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434840" y="53492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Helps with credibility, growth, and giving direction to what you study next.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41248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3A82B">
                    <a:alpha val="20000"/>
                  </a:srgb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6400" dirty="0"/>
          </a:p>
        </p:txBody>
      </p:sp>
      <p:sp>
        <p:nvSpPr>
          <p:cNvPr id="18" name="Text 14"/>
          <p:cNvSpPr/>
          <p:nvPr/>
        </p:nvSpPr>
        <p:spPr>
          <a:xfrm>
            <a:off x="832104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DEE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6400" dirty="0"/>
          </a:p>
        </p:txBody>
      </p:sp>
      <p:sp>
        <p:nvSpPr>
          <p:cNvPr id="19" name="Shape 15"/>
          <p:cNvSpPr/>
          <p:nvPr/>
        </p:nvSpPr>
        <p:spPr>
          <a:xfrm>
            <a:off x="8321040" y="3703320"/>
            <a:ext cx="548640" cy="54864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7764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4709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a substitute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321040" y="53492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not a replacement for real experience. Building still matters more.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17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actually need one?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Certifications help — they aren't mandatory for everyone.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402336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5486400" cy="54864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048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PROBABLY SHOULD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246120"/>
            <a:ext cx="201168" cy="201168"/>
          </a:xfrm>
          <a:prstGeom prst="ellipse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2278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3154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early in your career and need a credibility signal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3849624"/>
            <a:ext cx="201168" cy="201168"/>
          </a:xfrm>
          <a:prstGeom prst="ellipse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831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34440" y="37581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switching tracks (admin → developer, dev → AI)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453128"/>
            <a:ext cx="201168" cy="201168"/>
          </a:xfrm>
          <a:prstGeom prst="ellipse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4348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34440" y="43616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employer pays for it or rewards 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14400" y="5056632"/>
            <a:ext cx="201168" cy="201168"/>
          </a:xfrm>
          <a:prstGeom prst="ellipse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50383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344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learn better with a syllabus and a deadline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14400" y="5660136"/>
            <a:ext cx="201168" cy="201168"/>
          </a:xfrm>
          <a:prstGeom prst="ellipse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5641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34440" y="55686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want to enter the Microsoft Partner ecosystem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63640" y="2286000"/>
            <a:ext cx="54864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A8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286000"/>
            <a:ext cx="5486400" cy="54864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404872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4088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MAYBE YOU DON'T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629400" y="3246120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3A82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629400" y="31912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949440" y="3154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a strong portfolio that already speaks for itself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629400" y="384962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3A82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629400" y="37947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949440" y="37581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role doesn't reward credentials — it rewards shipped work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629400" y="445312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3A82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29400" y="43982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949440" y="43616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chasing badges to avoid actually building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629400" y="505663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3A82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629400" y="50017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69494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exam doesn't map to anything you'll do this year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6629400" y="566013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3A82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629400" y="56052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6949440" y="55686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You'd learn more by writing the project than studying for it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17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IT'S HEADING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market is changing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Certifications are being reshaped — by AI, by Copilot, and by what the industry actually verifies.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83380" y="4160520"/>
            <a:ext cx="274320" cy="274320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44" y="4224528"/>
            <a:ext cx="164592" cy="164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31720"/>
            <a:ext cx="3611880" cy="3931920"/>
          </a:xfrm>
          <a:prstGeom prst="rect">
            <a:avLst/>
          </a:prstGeom>
          <a:solidFill>
            <a:srgbClr val="D8DC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697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2020–2023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72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914400" y="3749040"/>
            <a:ext cx="457200" cy="36576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023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Role-based exams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14400" y="4663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Long, written exams.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→ schedule → certify → renew.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15300" y="4160520"/>
            <a:ext cx="274320" cy="274320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64" y="4224528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80560" y="2331720"/>
            <a:ext cx="3611880" cy="393192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2697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2024–2025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4846320" y="3749040"/>
            <a:ext cx="45720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46320" y="4023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AI-shaped skills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846320" y="4663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8DC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Copilot, agents, and AI fluency moving from optional to expected.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412480" y="2331720"/>
            <a:ext cx="3611880" cy="393192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778240" y="2697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→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77824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8778240" y="3749040"/>
            <a:ext cx="457200" cy="36576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78240" y="4023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Applied Skills rising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8778240" y="4663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Short, hands-on credentials sit next to traditional role-based exams.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8640" y="6492240"/>
            <a:ext cx="36576" cy="0"/>
          </a:xfrm>
          <a:prstGeom prst="rect">
            <a:avLst/>
          </a:prstGeom>
          <a:noFill/>
          <a:ln/>
        </p:spPr>
      </p:sp>
      <p:sp>
        <p:nvSpPr>
          <p:cNvPr id="28" name="Shape 2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17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REFRAMING THE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changed what a certification proves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got cheap. Judgment got expensive.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383280"/>
          </a:xfrm>
          <a:prstGeom prst="rect">
            <a:avLst/>
          </a:prstGeom>
          <a:solidFill>
            <a:srgbClr val="F5F6F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889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5204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3840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Speeds you up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05840" y="4672584"/>
            <a:ext cx="137160" cy="36576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Drafts code, configs, and documentation in seconds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5038344"/>
            <a:ext cx="137160" cy="36576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4892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Explains unfamiliar services and APIs on demand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5404104"/>
            <a:ext cx="137160" cy="36576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friction — but doesn't remove responsibility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9864" y="3703320"/>
            <a:ext cx="640080" cy="640080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69864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2331720"/>
            <a:ext cx="5349240" cy="338328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2331720"/>
            <a:ext cx="73152" cy="338328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788920"/>
            <a:ext cx="594360" cy="594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49440" y="35204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UNDERSTANDING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949440" y="3840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Steers the outcome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6949440" y="4672584"/>
            <a:ext cx="13716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7804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C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Knows what to ask, what to verify, what to reject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949440" y="5038344"/>
            <a:ext cx="13716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78040" y="4892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C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Catches confident-sounding wrong answers from the model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949440" y="5404104"/>
            <a:ext cx="13716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7804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C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Owns the decision when the stakes are real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solidFill>
            <a:srgbClr val="EEF0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certification today proves </a:t>
            </a:r>
            <a:r>
              <a:rPr lang="en-US" sz="1300" b="1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discipline and judgment</a:t>
            </a: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two things AI can't shortcut for you.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17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40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A31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1A31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1280160" cy="36576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 TAKE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Certifications don't prove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you're good.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731520" cy="54864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34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But they prove you take </a:t>
            </a:r>
            <a:r>
              <a:rPr lang="en-US" sz="3800" b="1" i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growth</a:t>
            </a:r>
            <a:r>
              <a:rPr lang="en-US" sz="3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seriously.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ALEX ABDULCA  ·  MICROSOFT CERTIFICATIONS PANEL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YOU'RE GOING POWER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clean path through Power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step opens the door to the next. Skip steps and you'll feel the gap later.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0543032" cy="0"/>
          </a:xfrm>
          <a:prstGeom prst="line">
            <a:avLst/>
          </a:prstGeom>
          <a:noFill/>
          <a:ln w="38100">
            <a:solidFill>
              <a:srgbClr val="D8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606040" cy="82296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PL-900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851660" y="3429000"/>
            <a:ext cx="0" cy="228600"/>
          </a:xfrm>
          <a:prstGeom prst="line">
            <a:avLst/>
          </a:prstGeom>
          <a:noFill/>
          <a:ln w="12700">
            <a:solidFill>
              <a:srgbClr val="D8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87068" y="3493008"/>
            <a:ext cx="329184" cy="32918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340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7652" y="3593592"/>
            <a:ext cx="128016" cy="128016"/>
          </a:xfrm>
          <a:prstGeom prst="ellipse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31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Fundamentals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Maker mindset.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platform on one page.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76" y="2907792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273552" y="2286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73552" y="2606040"/>
            <a:ext cx="2606040" cy="82296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73552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PL-400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273552" y="20756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ANCHOR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6572" y="3429000"/>
            <a:ext cx="0" cy="228600"/>
          </a:xfrm>
          <a:prstGeom prst="line">
            <a:avLst/>
          </a:prstGeom>
          <a:noFill/>
          <a:ln w="12700">
            <a:solidFill>
              <a:srgbClr val="D8DC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11980" y="3493008"/>
            <a:ext cx="329184" cy="32918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3A8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12564" y="3593592"/>
            <a:ext cx="128016" cy="128016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73552" y="3931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Developer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364992" y="43891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Code-first extensibility,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Dataverse, APIs, ALM.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88" y="2907792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98464" y="2286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998464" y="2606040"/>
            <a:ext cx="2606040" cy="82296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5998464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Skills</a:t>
            </a:r>
            <a:endParaRPr lang="en-US" sz="2600" dirty="0"/>
          </a:p>
        </p:txBody>
      </p:sp>
      <p:sp>
        <p:nvSpPr>
          <p:cNvPr id="28" name="Shape 24"/>
          <p:cNvSpPr/>
          <p:nvPr/>
        </p:nvSpPr>
        <p:spPr>
          <a:xfrm>
            <a:off x="7301484" y="3429000"/>
            <a:ext cx="0" cy="228600"/>
          </a:xfrm>
          <a:prstGeom prst="line">
            <a:avLst/>
          </a:prstGeom>
          <a:noFill/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136892" y="3493008"/>
            <a:ext cx="329184" cy="32918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3407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37476" y="3593592"/>
            <a:ext cx="128016" cy="128016"/>
          </a:xfrm>
          <a:prstGeom prst="ellipse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98464" y="3931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&amp; Applied</a:t>
            </a: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6089904" y="43891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Studio, agents,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Builder — hands-on signals.</a:t>
            </a:r>
            <a:endParaRPr lang="en-US" sz="12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907792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723376" y="2286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04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723376" y="2606040"/>
            <a:ext cx="2606040" cy="82296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8723376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</a:t>
            </a:r>
            <a:endParaRPr lang="en-US" sz="2600" dirty="0"/>
          </a:p>
        </p:txBody>
      </p:sp>
      <p:sp>
        <p:nvSpPr>
          <p:cNvPr id="37" name="Shape 32"/>
          <p:cNvSpPr/>
          <p:nvPr/>
        </p:nvSpPr>
        <p:spPr>
          <a:xfrm>
            <a:off x="10026396" y="3429000"/>
            <a:ext cx="0" cy="228600"/>
          </a:xfrm>
          <a:prstGeom prst="line">
            <a:avLst/>
          </a:prstGeom>
          <a:noFill/>
          <a:ln w="12700">
            <a:solidFill>
              <a:srgbClr val="D8DCE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861804" y="3493008"/>
            <a:ext cx="329184" cy="32918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3407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9962388" y="3593592"/>
            <a:ext cx="128016" cy="128016"/>
          </a:xfrm>
          <a:prstGeom prst="ellipse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723376" y="3931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Specialization</a:t>
            </a:r>
            <a:endParaRPr lang="en-US" sz="1700" dirty="0"/>
          </a:p>
        </p:txBody>
      </p:sp>
      <p:sp>
        <p:nvSpPr>
          <p:cNvPr id="41" name="Text 36"/>
          <p:cNvSpPr/>
          <p:nvPr/>
        </p:nvSpPr>
        <p:spPr>
          <a:xfrm>
            <a:off x="8814816" y="43891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Architect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domain-deep credentials.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F5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22960" y="58064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security and AI on top — that's where </a:t>
            </a:r>
            <a:r>
              <a:rPr lang="en-US" sz="1400" b="1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 careers compound in 2026.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17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to actually prepare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habits that work — in this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2103120" cy="137160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2926080"/>
            <a:ext cx="585216" cy="5852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71600" y="3840480"/>
            <a:ext cx="45720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Learn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4617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Free, official,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current. Always your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stop.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06040" y="2834640"/>
            <a:ext cx="201168" cy="201168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61488" y="233172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61488" y="2331720"/>
            <a:ext cx="2103120" cy="137160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61488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926080"/>
            <a:ext cx="585216" cy="58521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584448" y="3840480"/>
            <a:ext cx="45720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898648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measured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44368" y="4617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the exam's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outline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 a checklist.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818888" y="2834640"/>
            <a:ext cx="201168" cy="201168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74336" y="233172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974336" y="2331720"/>
            <a:ext cx="2103120" cy="137160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74336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926080"/>
            <a:ext cx="585216" cy="58521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797296" y="3840480"/>
            <a:ext cx="45720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111496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real things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157216" y="4617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project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beats ten practice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031736" y="2834640"/>
            <a:ext cx="201168" cy="201168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187184" y="233172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187184" y="2331720"/>
            <a:ext cx="2103120" cy="137160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187184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2926080"/>
            <a:ext cx="585216" cy="585216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8010144" y="3840480"/>
            <a:ext cx="45720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324344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Practice assessments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370064" y="4617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them for diagnosis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not to memorize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244584" y="2834640"/>
            <a:ext cx="201168" cy="201168"/>
          </a:xfrm>
          <a:prstGeom prst="ellipse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400032" y="233172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400032" y="2331720"/>
            <a:ext cx="2103120" cy="137160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400032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984" y="2926080"/>
            <a:ext cx="585216" cy="585216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10222992" y="3840480"/>
            <a:ext cx="45720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537192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as tutor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582912" y="4617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it to explain.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ask it to take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exam for you.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17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AI WELL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to use AI for exam prep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a great study partner. It's a terrible substitute teacher.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3492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 ·  GOOD USES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6440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a concept in plain language, then test you on it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679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803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practice questions from the skills outline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714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407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two services or features side by side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7492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5010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through a scenario and ask Socratic follow-ups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7842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56144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 documentation into examples you'd actually build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63640" y="2331720"/>
            <a:ext cx="534924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263640" y="2331720"/>
            <a:ext cx="53492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492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690372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 ·  BAD USES</a:t>
            </a:r>
            <a:endParaRPr lang="en-US" sz="14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6440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800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Memorize raw answer dumps it generates for you</a:t>
            </a:r>
            <a:endParaRPr lang="en-US" sz="12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6791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58000" y="3803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confident-sounding output without verifying</a:t>
            </a:r>
            <a:endParaRPr lang="en-US" sz="12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71416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858000" y="4407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 the docs because the chatbot summarized them</a:t>
            </a:r>
            <a:endParaRPr lang="en-US" sz="12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74920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858000" y="5010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Outsource thinking — then act surprised on exam day</a:t>
            </a:r>
            <a:endParaRPr lang="en-US" sz="12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678424"/>
            <a:ext cx="256032" cy="2560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858000" y="56144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to bypass the parts that are actually the learning</a:t>
            </a:r>
            <a:endParaRPr lang="en-US" sz="1250" dirty="0"/>
          </a:p>
        </p:txBody>
      </p:sp>
      <p:sp>
        <p:nvSpPr>
          <p:cNvPr id="33" name="Shape 2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17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PAY FULL PRICE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to get certification deals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vouchers and discounts are out there — if you know where to look.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114300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73152" cy="114300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Build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vouchers via sessions, labs, and challenges.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78808" y="2331720"/>
            <a:ext cx="3520440" cy="114300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8808" y="2331720"/>
            <a:ext cx="73152" cy="114300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606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Ignite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01768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Skills Challenge unlocks free exam vouchers.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584448"/>
            <a:ext cx="3520440" cy="114300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584448"/>
            <a:ext cx="73152" cy="114300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5876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Skills Challenge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371600" y="4114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Periodic global campaigns — finish and qualify.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178808" y="3584448"/>
            <a:ext cx="3520440" cy="114300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78808" y="3584448"/>
            <a:ext cx="73152" cy="114300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85876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01768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Learn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001768" y="4114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Skills Challenges throughout the year.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837176"/>
            <a:ext cx="3520440" cy="114300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8640" y="4837176"/>
            <a:ext cx="73152" cy="114300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1149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5001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Partner / Employer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371600" y="53675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Partners and employers often fund exams.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178808" y="4837176"/>
            <a:ext cx="3520440" cy="1143000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178808" y="4837176"/>
            <a:ext cx="73152" cy="114300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511149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001768" y="5001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Community Promos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5001768" y="53675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MVPs, user groups, and meetups share codes.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183880" y="2331720"/>
            <a:ext cx="3474720" cy="397764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10287000" y="1600200"/>
            <a:ext cx="2286000" cy="2286000"/>
          </a:xfrm>
          <a:prstGeom prst="ellipse">
            <a:avLst/>
          </a:prstGeom>
          <a:solidFill>
            <a:srgbClr val="1A316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2971800"/>
            <a:ext cx="1005840" cy="10058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18388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THE DEALS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9555480" y="4572000"/>
            <a:ext cx="731520" cy="4572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183880" y="4800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msfthub.com</a:t>
            </a:r>
            <a:endParaRPr lang="en-US" sz="2600" dirty="0"/>
          </a:p>
        </p:txBody>
      </p:sp>
      <p:sp>
        <p:nvSpPr>
          <p:cNvPr id="41" name="Text 32"/>
          <p:cNvSpPr/>
          <p:nvPr/>
        </p:nvSpPr>
        <p:spPr>
          <a:xfrm>
            <a:off x="8183880" y="5303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/vouchers</a:t>
            </a:r>
            <a:endParaRPr lang="en-US" sz="2400" dirty="0"/>
          </a:p>
        </p:txBody>
      </p:sp>
      <p:sp>
        <p:nvSpPr>
          <p:cNvPr id="42" name="Text 33"/>
          <p:cNvSpPr/>
          <p:nvPr/>
        </p:nvSpPr>
        <p:spPr>
          <a:xfrm>
            <a:off x="8458200" y="5852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active vouchers,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challenges, and partner offers.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17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Mistakes I made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you don't have to repeat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874520"/>
          </a:xfrm>
          <a:prstGeom prst="rect">
            <a:avLst/>
          </a:prstGeom>
          <a:solidFill>
            <a:srgbClr val="F5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109728" cy="187452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4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6517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97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Studied passively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28800" y="32004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Watched videos and read pages. Didn't retain it because I never used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331720"/>
            <a:ext cx="5440680" cy="1874520"/>
          </a:xfrm>
          <a:prstGeom prst="rect">
            <a:avLst/>
          </a:prstGeom>
          <a:solidFill>
            <a:srgbClr val="F5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331720"/>
            <a:ext cx="109728" cy="187452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26060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4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26517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697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Skipped hands-on builds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452360" y="32004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Took exams before I'd touched the product in anger. The first real project hurt.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389120"/>
            <a:ext cx="5440680" cy="1874520"/>
          </a:xfrm>
          <a:prstGeom prst="rect">
            <a:avLst/>
          </a:prstGeom>
          <a:solidFill>
            <a:srgbClr val="F5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4389120"/>
            <a:ext cx="109728" cy="187452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46634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4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470916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7548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Overthought the exams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828800" y="52578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Burned weeks on edge cases that never showed up. Cover the basics deeply, then move on.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172200" y="4389120"/>
            <a:ext cx="5440680" cy="1874520"/>
          </a:xfrm>
          <a:prstGeom prst="rect">
            <a:avLst/>
          </a:prstGeom>
          <a:solidFill>
            <a:srgbClr val="F5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172200" y="4389120"/>
            <a:ext cx="109728" cy="1874520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37960" y="46634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4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0" y="470916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52360" y="47548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Underrated consistency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452360" y="52578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hour a day beats a weekend cram. The streak is the strategy.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17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3A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EXAM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 do after you pass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Passing is the start. These four moves convert a badge into a career step.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004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2670048" cy="109728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6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29184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4114800"/>
            <a:ext cx="457200" cy="36576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2976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it this week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skill on something real before it fades. Forty-eight hours is the window.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55848" y="2331720"/>
            <a:ext cx="267004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2331720"/>
            <a:ext cx="2670048" cy="109728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0168" y="2651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30168" y="29260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6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3291840"/>
            <a:ext cx="502920" cy="5029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30168" y="4114800"/>
            <a:ext cx="457200" cy="36576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30168" y="42976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 it publicly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3630168" y="502920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on LinkedIn. The signal compounds — recruiters and peers notice.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63056" y="2331720"/>
            <a:ext cx="267004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63056" y="2331720"/>
            <a:ext cx="2670048" cy="109728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37376" y="2651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03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437376" y="29260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6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3291840"/>
            <a:ext cx="502920" cy="5029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437376" y="4114800"/>
            <a:ext cx="457200" cy="36576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37376" y="42976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a project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6437376" y="502920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one thing that demonstrates the cert. That's your portfolio piece.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970264" y="2331720"/>
            <a:ext cx="267004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970264" y="2331720"/>
            <a:ext cx="2670048" cy="109728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244584" y="2651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04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9244584" y="29260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60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7352" y="3291840"/>
            <a:ext cx="502920" cy="50292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9244584" y="4114800"/>
            <a:ext cx="457200" cy="36576"/>
          </a:xfrm>
          <a:prstGeom prst="rect">
            <a:avLst/>
          </a:prstGeom>
          <a:solidFill>
            <a:srgbClr val="234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244584" y="42976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07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Pick the next intentionally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9244584" y="502920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what compounds with your role and your direction — not what's trending.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Certifications in 2026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126480" y="6510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17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11567160" y="6601968"/>
            <a:ext cx="73152" cy="73152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40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A31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1A31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10515600" y="5029200"/>
            <a:ext cx="1371600" cy="1371600"/>
          </a:xfrm>
          <a:prstGeom prst="rect">
            <a:avLst/>
          </a:prstGeom>
          <a:solidFill>
            <a:srgbClr val="E3A82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0080"/>
            <a:ext cx="1828800" cy="365760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234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Certifications still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matter</a:t>
            </a:r>
            <a:r>
              <a:rPr lang="en-US" sz="5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— but only when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paired with </a:t>
            </a:r>
            <a:r>
              <a:rPr lang="en-US" sz="5400" b="1" i="1" dirty="0">
                <a:solidFill>
                  <a:srgbClr val="E3A8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practice.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E3A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C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ALEX ABDULCA  ·  SENIOR MICROSOFT 365 &amp; POWER PLATFORM DEVELOPER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certifications  ·  3 years  ·  still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eea6b4a-4e9f-4aac-9319-abab3933f5ef}" enabled="1" method="Standard" siteId="{02c5ecf0-1cec-4a5b-8ded-cd12a305290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Certifications in 2026</dc:title>
  <dc:subject>PptxGenJS Presentation</dc:subject>
  <dc:creator>Alex Abdulca</dc:creator>
  <cp:lastModifiedBy>Alex Abdulca</cp:lastModifiedBy>
  <cp:revision>4</cp:revision>
  <dcterms:created xsi:type="dcterms:W3CDTF">2026-05-26T23:17:11Z</dcterms:created>
  <dcterms:modified xsi:type="dcterms:W3CDTF">2026-05-26T23:21:29Z</dcterms:modified>
</cp:coreProperties>
</file>